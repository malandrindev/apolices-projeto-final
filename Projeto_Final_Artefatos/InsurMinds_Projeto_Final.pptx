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914400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InsurMinds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652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Análise e comparação de</a:t>
            </a:r>
          </a:p>
          <a:p>
            <a:pPr>
              <a:spcAft>
                <a:spcPts val="9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documentos D&amp;O com evidências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B9DCE2"/>
                </a:solidFill>
                <a:latin typeface="Arial"/>
              </a:defRPr>
            </a:pPr>
            <a:r>
              <a:t>Projeto Final I2A2 / InsurMinds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10744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José Leonardo Alves Vilela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Vitor Ferreira  |  Wagner Assis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63056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B9DCE2"/>
                </a:solidFill>
                <a:latin typeface="Arial"/>
              </a:defRPr>
            </a:pPr>
            <a: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O problema: comparar exige preservar o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Coberturas e limites dependem de definições, condições, sujeitos e exceções.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37943"/>
            <a:ext cx="3529584" cy="302666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6579"/>
                </a:solidFill>
                <a:latin typeface="Arial"/>
              </a:defRPr>
            </a:pPr>
            <a:r>
              <a:t>Localizar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301752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63B4C"/>
                </a:solidFill>
                <a:latin typeface="Arial"/>
              </a:defRPr>
            </a:pPr>
            <a:r>
              <a:t>Documentos extensos dispersam informações relevantes.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1837943"/>
            <a:ext cx="3529584" cy="302666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103120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6579"/>
                </a:solidFill>
                <a:latin typeface="Arial"/>
              </a:defRPr>
            </a:pPr>
            <a:r>
              <a:t>Interpretar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07208"/>
            <a:ext cx="301752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63B4C"/>
                </a:solidFill>
                <a:latin typeface="Arial"/>
              </a:defRPr>
            </a:pPr>
            <a:r>
              <a:t>Termos semelhantes podem produzir alcances diferentes.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8" y="1837943"/>
            <a:ext cx="3529584" cy="3026664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2103120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6579"/>
                </a:solidFill>
                <a:latin typeface="Arial"/>
              </a:defRPr>
            </a:pPr>
            <a:r>
              <a:t>Conferir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2807208"/>
            <a:ext cx="301752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63B4C"/>
                </a:solidFill>
                <a:latin typeface="Arial"/>
              </a:defRPr>
            </a:pPr>
            <a:r>
              <a:t>Toda conclusão precisa voltar à página e ao trecho de origem.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1088136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324D"/>
                </a:solidFill>
                <a:latin typeface="Arial"/>
              </a:defRPr>
            </a:pPr>
            <a:r>
              <a:t>A plataforma organiza a análise e conserva a evidência para o especialista.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Uma jornada simples para uma análise verificável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Adicionar documentos → escolher a referência → comparar → conferir evidências.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7" name="Picture 6" descr="01_upload_re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00" y="1618488"/>
            <a:ext cx="7876366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69096" y="1801368"/>
            <a:ext cx="2825496" cy="4014215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066543"/>
            <a:ext cx="24231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2 a 5 documentos</a:t>
            </a: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Referência explícita</a:t>
            </a: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Comparação por pares</a:t>
            </a: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Exportação do resultado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Arquitetura com responsabilidades delimitadas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6" name="Picture 5" descr="InsurMinds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72" y="1143000"/>
            <a:ext cx="9233408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PDF nativo e digitalizado no mesmo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A leitura local acontece antes da extração e da comparação com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7" name="Picture 6" descr="07_ocr_tesse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715414"/>
            <a:ext cx="6885432" cy="4131259"/>
          </a:xfrm>
          <a:prstGeom prst="rect">
            <a:avLst/>
          </a:prstGeom>
        </p:spPr>
      </p:pic>
      <p:pic>
        <p:nvPicPr>
          <p:cNvPr id="8" name="Picture 7" descr="02_process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20230"/>
            <a:ext cx="4133087" cy="24609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54112" y="5038344"/>
            <a:ext cx="372160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76579"/>
                </a:solidFill>
                <a:latin typeface="Arial"/>
              </a:defRPr>
            </a:pPr>
            <a:r>
              <a:t>4 páginas nativas</a:t>
            </a:r>
          </a:p>
          <a:p>
            <a:pPr>
              <a:spcAft>
                <a:spcPts val="900"/>
              </a:spcAft>
              <a:defRPr sz="2000" b="1">
                <a:solidFill>
                  <a:srgbClr val="176579"/>
                </a:solidFill>
                <a:latin typeface="Arial"/>
              </a:defRPr>
            </a:pPr>
            <a:r>
              <a:t>4 páginas com Tesseract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Execução real: resultado proporcional à evidência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Allianz e Porto | recortes de 4 + 4 páginas | fluxo completo registrado.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7" name="Picture 6" descr="03_re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00739"/>
            <a:ext cx="11018520" cy="3448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5477256"/>
            <a:ext cx="107899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324D"/>
                </a:solidFill>
                <a:latin typeface="Arial"/>
              </a:defRPr>
            </a:pPr>
            <a:r>
              <a:t>2 diferenças  |  0 equivalências  |  19 itens sem conclusão segura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Da diferença ao documento que a sustenta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Documento, página e trecho podem ser conferidos na própria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7" name="Picture 6" descr="05_evi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0" y="1618487"/>
            <a:ext cx="7337858" cy="4453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746504"/>
            <a:ext cx="2743200" cy="416052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5984" y="2029968"/>
            <a:ext cx="2359152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  <a:r>
              <a:t>Citação verificável</a:t>
            </a: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  <a:r>
              <a:t>Contexto preservado</a:t>
            </a: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  <a:r>
              <a:t>Revisão humana</a:t>
            </a: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17324D"/>
                </a:solidFill>
                <a:latin typeface="Arial"/>
              </a:defRPr>
            </a:pPr>
            <a:r>
              <a:t>Sem escolha global automática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Transparência sobre o uso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Acompanhamento opcional de modelos, chamadas e tokens.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7" name="Picture 6" descr="06_uso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83759"/>
            <a:ext cx="7955279" cy="3722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911095"/>
            <a:ext cx="276148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37 chamadas na execução histórica</a:t>
            </a: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19 + 17 extração</a:t>
            </a:r>
          </a:p>
          <a:p>
            <a:pPr>
              <a:spcAft>
                <a:spcPts val="900"/>
              </a:spcAft>
              <a:defRPr sz="2100" b="1">
                <a:solidFill>
                  <a:srgbClr val="17324D"/>
                </a:solidFill>
                <a:latin typeface="Arial"/>
              </a:defRPr>
            </a:pPr>
            <a:r>
              <a:t>1 comparação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977639"/>
            <a:ext cx="2761488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381"/>
                </a:solidFill>
                <a:latin typeface="Arial"/>
              </a:defRPr>
            </a:pPr>
            <a:r>
              <a:t>Cache do provedor e cache local são distintos.</a:t>
            </a:r>
          </a:p>
          <a:p>
            <a:pPr>
              <a:spcAft>
                <a:spcPts val="900"/>
              </a:spcAft>
              <a:defRPr sz="1800" b="0">
                <a:solidFill>
                  <a:srgbClr val="607381"/>
                </a:solidFill>
                <a:latin typeface="Arial"/>
              </a:defRPr>
            </a:pPr>
            <a:r>
              <a:t>Tokens não comprovam cobrança efetiva.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Limites assumidos e revisão responsável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Conclusões conservadoras fazem parte do resultado.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92224"/>
            <a:ext cx="5477256" cy="182880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6579"/>
                </a:solidFill>
                <a:latin typeface="Arial"/>
              </a:defRPr>
            </a:pPr>
            <a:r>
              <a:t>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0292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63B4C"/>
                </a:solidFill>
                <a:latin typeface="Arial"/>
              </a:defRPr>
            </a:pPr>
            <a:r>
              <a:t>Condições gerais não comprovam a contratação individual.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92224"/>
            <a:ext cx="5477256" cy="182880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19659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6579"/>
                </a:solidFill>
                <a:latin typeface="Arial"/>
              </a:defRPr>
            </a:pPr>
            <a:r>
              <a:t>Evidência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2514600"/>
            <a:ext cx="50292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63B4C"/>
                </a:solidFill>
                <a:latin typeface="Arial"/>
              </a:defRPr>
            </a:pPr>
            <a:r>
              <a:t>Recortes não representam análise integral de 75 e 52 páginas.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904487"/>
            <a:ext cx="5477256" cy="182880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6579"/>
                </a:solidFill>
                <a:latin typeface="Arial"/>
              </a:defRPr>
            </a:pPr>
            <a:r>
              <a:t>Interpretação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26864"/>
            <a:ext cx="50292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63B4C"/>
                </a:solidFill>
                <a:latin typeface="Arial"/>
              </a:defRPr>
            </a:pPr>
            <a:r>
              <a:t>OCR e modelos podem omitir detalhes; o especialista deve conferir.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3904487"/>
            <a:ext cx="5477256" cy="182880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407822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76579"/>
                </a:solidFill>
                <a:latin typeface="Arial"/>
              </a:defRPr>
            </a:pPr>
            <a:r>
              <a:t>Demonstração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4626864"/>
            <a:ext cx="50292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63B4C"/>
                </a:solidFill>
                <a:latin typeface="Arial"/>
              </a:defRPr>
            </a:pPr>
            <a:r>
              <a:t>Especificações fictícias são identificadas e não têm validade contratual.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11064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24D"/>
                </a:solidFill>
                <a:latin typeface="Arial"/>
              </a:defRPr>
            </a:pPr>
            <a:r>
              <a:t>Uma base funcional para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07381"/>
                </a:solidFill>
                <a:latin typeface="Arial"/>
              </a:defRPr>
            </a:pPr>
            <a:r>
              <a:t>Automação útil exige rastreabilidade e prudência.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379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381"/>
                </a:solidFill>
                <a:latin typeface="Arial"/>
              </a:defRPr>
            </a:pPr>
            <a:r>
              <a:t>InsurMinds | Projeto Final I2A2 |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196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7657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789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324D"/>
                </a:solidFill>
                <a:latin typeface="Arial"/>
              </a:defRPr>
            </a:pPr>
            <a:r>
              <a:t>O InsurMinds integra OCR, IA, estruturação e comparação</a:t>
            </a:r>
          </a:p>
          <a:p>
            <a:pPr>
              <a:spcAft>
                <a:spcPts val="900"/>
              </a:spcAft>
              <a:defRPr sz="2700" b="1">
                <a:solidFill>
                  <a:srgbClr val="17324D"/>
                </a:solidFill>
                <a:latin typeface="Arial"/>
              </a:defRPr>
            </a:pPr>
            <a:r>
              <a:t>em uma jornada de apoio à análise documental.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310128"/>
            <a:ext cx="10789920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B4C"/>
                </a:solidFill>
                <a:latin typeface="Arial"/>
              </a:defRPr>
            </a:pPr>
            <a:r>
              <a:t>Próximas evoluções</a:t>
            </a:r>
          </a:p>
          <a:p>
            <a:pPr>
              <a:spcAft>
                <a:spcPts val="900"/>
              </a:spcAft>
              <a:defRPr sz="2200" b="0">
                <a:solidFill>
                  <a:srgbClr val="263B4C"/>
                </a:solidFill>
                <a:latin typeface="Arial"/>
              </a:defRPr>
            </a:pPr>
            <a:r>
              <a:t>Avaliação com especialistas e documentos de escopo semelhante</a:t>
            </a:r>
          </a:p>
          <a:p>
            <a:pPr>
              <a:spcAft>
                <a:spcPts val="900"/>
              </a:spcAft>
              <a:defRPr sz="2200" b="0">
                <a:solidFill>
                  <a:srgbClr val="263B4C"/>
                </a:solidFill>
                <a:latin typeface="Arial"/>
              </a:defRPr>
            </a:pPr>
            <a:r>
              <a:t>Melhor tratamento de continuidade, tabelas, endossos e conflitos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50468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6579"/>
                </a:solidFill>
                <a:latin typeface="Arial"/>
              </a:defRPr>
            </a:pPr>
            <a:r>
              <a:t>https://github.com/malandrindev/Apolices-Projeto-Final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InsurMinds — Projeto Final I2A2</dc:title>
  <dc:subject>Plataforma de análise e comparação de documentos D&amp;O</dc:subject>
  <dc:creator>José Leonardo Alves Vilela; Vitor Ferreira; Wagner Assis</dc:creator>
  <cp:keywords/>
  <dc:description>Capturas reais da interface final. Cenário real de 4 + 4 páginas; demonstração fictícia identificada. Sem novas APIs na geração.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